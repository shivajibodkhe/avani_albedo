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Google Sans Flex Medium" panose="020B0604020202020204" charset="0"/>
      <p:regular r:id="rId18"/>
      <p:bold r:id="rId19"/>
    </p:embeddedFont>
    <p:embeddedFont>
      <p:font typeface="Google Sans Flex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0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vajibodkhe/Avani_Albedo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384048" y="2889504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7212B"/>
                </a:solidFill>
                <a:latin typeface="Arial"/>
              </a:rPr>
              <a:t>AVANI ALBEDO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" y="336499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36170"/>
                </a:solidFill>
                <a:latin typeface="Arial"/>
              </a:rPr>
              <a:t>Urban Heat Action Agent  |  Prescriptive Climate Resilience Engine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" y="37307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008F78"/>
                </a:solidFill>
                <a:latin typeface="Arial"/>
              </a:rPr>
              <a:t>“Optimizing Albedo, Cooling the Earth.”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336" y="4163474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dirty="0">
                <a:solidFill>
                  <a:srgbClr val="17212B"/>
                </a:solidFill>
                <a:latin typeface="Arial"/>
              </a:rPr>
              <a:t>TEAM  </a:t>
            </a:r>
            <a:r>
              <a:rPr sz="1150" b="1" i="0" dirty="0" err="1">
                <a:solidFill>
                  <a:srgbClr val="17212B"/>
                </a:solidFill>
                <a:latin typeface="Arial"/>
              </a:rPr>
              <a:t>Avani</a:t>
            </a:r>
            <a:r>
              <a:rPr sz="1150" b="1" i="0" dirty="0">
                <a:solidFill>
                  <a:srgbClr val="17212B"/>
                </a:solidFill>
                <a:latin typeface="Arial"/>
              </a:rPr>
              <a:t> Albedo     •     </a:t>
            </a:r>
            <a:r>
              <a:rPr lang="en-US" sz="1150" b="1" dirty="0">
                <a:solidFill>
                  <a:srgbClr val="17212B"/>
                </a:solidFill>
              </a:rPr>
              <a:t>TEAM MEMBERS  Shivaji </a:t>
            </a:r>
            <a:r>
              <a:rPr lang="en-US" sz="1150" b="1" dirty="0" err="1">
                <a:solidFill>
                  <a:srgbClr val="17212B"/>
                </a:solidFill>
              </a:rPr>
              <a:t>Bodkhe</a:t>
            </a:r>
            <a:r>
              <a:rPr lang="en-US" sz="1150" b="1" dirty="0">
                <a:solidFill>
                  <a:srgbClr val="17212B"/>
                </a:solidFill>
              </a:rPr>
              <a:t>, Akshatha R Prabhu, Anusha D, </a:t>
            </a:r>
            <a:r>
              <a:rPr lang="en-US" sz="1150" b="1" dirty="0" err="1">
                <a:solidFill>
                  <a:srgbClr val="17212B"/>
                </a:solidFill>
              </a:rPr>
              <a:t>Niranchana</a:t>
            </a:r>
            <a:endParaRPr sz="1150" b="1" i="0" dirty="0">
              <a:solidFill>
                <a:srgbClr val="17212B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02336" y="4471416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36170"/>
                </a:solidFill>
                <a:latin typeface="Arial"/>
              </a:rPr>
              <a:t>Heat maps identify the problem. Avani turns ward-level heat risk into budget-aware cooling actions.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36170"/>
                </a:solidFill>
                <a:latin typeface="Arial"/>
              </a:rPr>
              <a:t>Active development  |  Status snapshot: 08 October 2026  |  16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20624" y="1371600"/>
            <a:ext cx="82753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7212B"/>
                </a:solidFill>
                <a:latin typeface="Arial"/>
              </a:rPr>
              <a:t>From “where is it hot?” to “what should the city fund next?”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" y="2093976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536170"/>
                </a:solidFill>
                <a:latin typeface="Arial"/>
              </a:rPr>
              <a:t>Avani Albedo is a municipal decision-support platform for turning urban heat signals into prioritized, explainable resilience plans.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4048" y="2761488"/>
            <a:ext cx="2688336" cy="1691640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02336" y="2871216"/>
            <a:ext cx="50292" cy="1472184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287121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78DA8"/>
                </a:solidFill>
                <a:latin typeface="Arial"/>
              </a:rPr>
              <a:t>01  READ THE CITY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3255264"/>
            <a:ext cx="237744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0" i="0">
                <a:solidFill>
                  <a:srgbClr val="17212B"/>
                </a:solidFill>
                <a:latin typeface="Arial"/>
              </a:rPr>
              <a:t>Map ward-level heat, vegetation, built density and exposure indicators in an interactive GIS workspace.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6976" y="2761488"/>
            <a:ext cx="2688336" cy="1691640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255264" y="2871216"/>
            <a:ext cx="50292" cy="1472184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01568" y="287121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E3A300"/>
                </a:solidFill>
                <a:latin typeface="Arial"/>
              </a:rPr>
              <a:t>02  RANK THE RISK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01568" y="3255264"/>
            <a:ext cx="237744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0" i="0">
                <a:solidFill>
                  <a:srgbClr val="17212B"/>
                </a:solidFill>
                <a:latin typeface="Arial"/>
              </a:rPr>
              <a:t>Calculate a Heat Vulnerability Index (HVI), review seasonal patterns and compare neighborhoods.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89904" y="2761488"/>
            <a:ext cx="2688336" cy="1691640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08192" y="2871216"/>
            <a:ext cx="50292" cy="1472184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54496" y="287121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8F78"/>
                </a:solidFill>
                <a:latin typeface="Arial"/>
              </a:rPr>
              <a:t>03  PLAN THE RESPONSE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54496" y="3255264"/>
            <a:ext cx="237744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0" i="0">
                <a:solidFill>
                  <a:srgbClr val="17212B"/>
                </a:solidFill>
                <a:latin typeface="Arial"/>
              </a:rPr>
              <a:t>Optimize interventions against a budget, then generate a practical action plan for decision-makers.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912" y="45994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8F78"/>
                </a:solidFill>
                <a:latin typeface="Arial"/>
              </a:rPr>
              <a:t>Built for planners who need an actionable next step—not just another hotspot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Opportunity: connect heat intelligence to decisions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65760" y="1481328"/>
            <a:ext cx="2706624" cy="2999232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84048" y="1591056"/>
            <a:ext cx="50292" cy="2779776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0352" y="1591056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78DA8"/>
                </a:solidFill>
                <a:latin typeface="Arial"/>
              </a:rPr>
              <a:t>THE GAP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" y="1975104"/>
            <a:ext cx="2395728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Many heat maps stop at detection.</a:t>
            </a:r>
          </a:p>
          <a:p>
            <a:pPr algn="l">
              <a:spcAft>
                <a:spcPts val="300"/>
              </a:spcAft>
            </a:pPr>
            <a:endParaRPr sz="111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Municipal teams still need to answer:</a:t>
            </a: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• Which wards face the greatest risk?</a:t>
            </a: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• Which interventions are feasible?</a:t>
            </a: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• How should limited funds be allocated?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18688" y="1481328"/>
            <a:ext cx="2706624" cy="2999232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36976" y="1591056"/>
            <a:ext cx="50292" cy="2779776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383280" y="1591056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8F78"/>
                </a:solidFill>
                <a:latin typeface="Arial"/>
              </a:rPr>
              <a:t>OUR APPROACH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1975104"/>
            <a:ext cx="2395728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Combine satellite-derived indicators, vulnerability scoring and physical constraints.</a:t>
            </a:r>
          </a:p>
          <a:p>
            <a:pPr algn="l">
              <a:spcAft>
                <a:spcPts val="300"/>
              </a:spcAft>
            </a:pPr>
            <a:endParaRPr sz="111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Use an OR-Tools optimizer to prioritize trees, cool roofs, shade and hydration within a chosen budget.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71616" y="1481328"/>
            <a:ext cx="2706624" cy="2999232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089903" y="1591056"/>
            <a:ext cx="50292" cy="2779776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36207" y="1591056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3A300"/>
                </a:solidFill>
                <a:latin typeface="Arial"/>
              </a:rPr>
              <a:t>WHY IT IS DISTINCT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36207" y="1975104"/>
            <a:ext cx="2395728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One workflow links ward analysis → budget-constrained choices → an explainable roadmap.</a:t>
            </a:r>
          </a:p>
          <a:p>
            <a:pPr algn="l">
              <a:spcAft>
                <a:spcPts val="300"/>
              </a:spcAft>
            </a:pPr>
            <a:endParaRPr sz="111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Scenario comparison and a local rule-based fallback keep the prototype usable without cloud credentials.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" y="46634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08F78"/>
                </a:solidFill>
                <a:latin typeface="Arial"/>
              </a:rPr>
              <a:t>USP: a prescriptive resilience engine, not only a visualization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Core features in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65350" y="1081500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47472" y="1417320"/>
            <a:ext cx="2724912" cy="1499616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5760" y="1527048"/>
            <a:ext cx="50292" cy="1280160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2064" y="152704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70" b="1" i="0">
                <a:solidFill>
                  <a:srgbClr val="078DA8"/>
                </a:solidFill>
                <a:latin typeface="Arial"/>
              </a:rPr>
              <a:t>Dual temperature lens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" y="1911095"/>
            <a:ext cx="2414016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Distinguishes surface heat (LST) from ambient-air context in the interface.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09544" y="1417320"/>
            <a:ext cx="2724912" cy="1499616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227832" y="1527048"/>
            <a:ext cx="50292" cy="128016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374136" y="152704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70" b="1" i="0">
                <a:solidFill>
                  <a:srgbClr val="008F78"/>
                </a:solidFill>
                <a:latin typeface="Arial"/>
              </a:rPr>
              <a:t>Ward-level GIS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74136" y="1911095"/>
            <a:ext cx="2414016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Interactive heat map, hotspot markers, city/ward selection and map layers.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71616" y="1417320"/>
            <a:ext cx="2724912" cy="1499616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089903" y="1527048"/>
            <a:ext cx="50292" cy="1280160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36207" y="152704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70" b="1" i="0">
                <a:solidFill>
                  <a:srgbClr val="E3A300"/>
                </a:solidFill>
                <a:latin typeface="Arial"/>
              </a:rPr>
              <a:t>Vulnerability analysis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36207" y="1911095"/>
            <a:ext cx="2414016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HVI combines heat, vegetation, exposure, infrastructure, density and persistence.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47472" y="3191256"/>
            <a:ext cx="2724912" cy="1499616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65760" y="3300984"/>
            <a:ext cx="50292" cy="1280160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2064" y="3300984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70" b="1" i="0">
                <a:solidFill>
                  <a:srgbClr val="E3A300"/>
                </a:solidFill>
                <a:latin typeface="Arial"/>
              </a:rPr>
              <a:t>History &amp; seasonal views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064" y="3685032"/>
            <a:ext cx="2414016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Timeline, heat calendar and a 2005–2025 satellite archive view.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09544" y="3191256"/>
            <a:ext cx="2724912" cy="1499616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227832" y="3300984"/>
            <a:ext cx="50292" cy="1280160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374136" y="3300984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70" b="1" i="0">
                <a:solidFill>
                  <a:srgbClr val="078DA8"/>
                </a:solidFill>
                <a:latin typeface="Arial"/>
              </a:rPr>
              <a:t>Budget optimization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74136" y="3685032"/>
            <a:ext cx="2414016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OR-Tools allocates tree planting, cool roofs, shade and hydration scenarios.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71616" y="3191256"/>
            <a:ext cx="2724912" cy="1499616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6089903" y="3300984"/>
            <a:ext cx="50292" cy="128016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36207" y="3300984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70" b="1" i="0">
                <a:solidFill>
                  <a:srgbClr val="008F78"/>
                </a:solidFill>
                <a:latin typeface="Arial"/>
              </a:rPr>
              <a:t>Plans &amp; feasibility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36207" y="3685032"/>
            <a:ext cx="2414016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Gemini-ready briefings with fallback; site checks include a 16 m² tree root-zone standard.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1480" y="480974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36170"/>
                </a:solidFill>
                <a:latin typeface="Arial"/>
              </a:rPr>
              <a:t>Satellite and AI services can use live credentials when configured; local calibrated composites and deterministic planning support the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Process flow: evidence to action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-1997925" y="17404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38912" y="129844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36170"/>
                </a:solidFill>
                <a:latin typeface="Arial"/>
              </a:rPr>
              <a:t>A planner sets the geography, objective and budget; the engine returns a phased, explainable response.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20040" y="1938528"/>
            <a:ext cx="1417320" cy="17007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78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11479" y="2048256"/>
            <a:ext cx="320040" cy="320040"/>
          </a:xfrm>
          <a:prstGeom prst="ellipse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11479" y="2048256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5528" y="2048256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78DA8"/>
                </a:solidFill>
                <a:latin typeface="Arial"/>
              </a:rPr>
              <a:t>Select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8056" y="2468880"/>
            <a:ext cx="11612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City • ward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Budget • objective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755648" y="2770632"/>
            <a:ext cx="301752" cy="0"/>
          </a:xfrm>
          <a:prstGeom prst="line">
            <a:avLst/>
          </a:prstGeom>
          <a:ln w="21590">
            <a:solidFill>
              <a:srgbClr val="07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2093976" y="1938528"/>
            <a:ext cx="1417320" cy="17007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86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185416" y="2048256"/>
            <a:ext cx="320040" cy="320040"/>
          </a:xfrm>
          <a:prstGeom prst="ellipse">
            <a:avLst/>
          </a:prstGeom>
          <a:solidFill>
            <a:srgbClr val="38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185416" y="2048256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69464" y="2048256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867A5"/>
                </a:solidFill>
                <a:latin typeface="Arial"/>
              </a:rPr>
              <a:t>Assess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21992" y="2468880"/>
            <a:ext cx="11612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Heat indicators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HVI • exposure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529584" y="2770632"/>
            <a:ext cx="301752" cy="0"/>
          </a:xfrm>
          <a:prstGeom prst="line">
            <a:avLst/>
          </a:prstGeom>
          <a:ln w="21590">
            <a:solidFill>
              <a:srgbClr val="386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3867912" y="1938528"/>
            <a:ext cx="1417320" cy="17007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3959352" y="2048256"/>
            <a:ext cx="320040" cy="320040"/>
          </a:xfrm>
          <a:prstGeom prst="ellipse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959352" y="2048256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43400" y="2048256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8F78"/>
                </a:solidFill>
                <a:latin typeface="Arial"/>
              </a:rPr>
              <a:t>Optimize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95928" y="2468880"/>
            <a:ext cx="11612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OR-Tools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4 intervention types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303520" y="2770632"/>
            <a:ext cx="301752" cy="0"/>
          </a:xfrm>
          <a:prstGeom prst="line">
            <a:avLst/>
          </a:prstGeom>
          <a:ln w="21590">
            <a:solidFill>
              <a:srgbClr val="008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5641848" y="1938528"/>
            <a:ext cx="1417320" cy="17007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733288" y="2048256"/>
            <a:ext cx="320040" cy="320040"/>
          </a:xfrm>
          <a:prstGeom prst="ellipse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733288" y="2048256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17336" y="2048256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3A300"/>
                </a:solidFill>
                <a:latin typeface="Arial"/>
              </a:rPr>
              <a:t>Explain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69864" y="2468880"/>
            <a:ext cx="11612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Gemini plan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or local fallback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077456" y="2770632"/>
            <a:ext cx="301752" cy="0"/>
          </a:xfrm>
          <a:prstGeom prst="line">
            <a:avLst/>
          </a:prstGeom>
          <a:ln w="21590">
            <a:solidFill>
              <a:srgbClr val="E3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7415783" y="1938528"/>
            <a:ext cx="1417320" cy="17007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507223" y="2048256"/>
            <a:ext cx="320040" cy="320040"/>
          </a:xfrm>
          <a:prstGeom prst="ellipse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507223" y="2048256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91271" y="2048256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8F78"/>
                </a:solidFill>
                <a:latin typeface="Arial"/>
              </a:rPr>
              <a:t>Act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43800" y="2468880"/>
            <a:ext cx="11612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Compare scenarios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Roadmap • phases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4023360"/>
            <a:ext cx="2743200" cy="320040"/>
          </a:xfrm>
          <a:prstGeom prst="roundRect">
            <a:avLst/>
          </a:prstGeom>
          <a:solidFill>
            <a:srgbClr val="F1F6FA"/>
          </a:solidFill>
          <a:ln w="8890">
            <a:solidFill>
              <a:srgbClr val="078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02920" y="40370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078DA8"/>
                </a:solidFill>
                <a:latin typeface="Arial"/>
              </a:rPr>
              <a:t>Inputs: city + budget + policy objective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8688" y="4023360"/>
            <a:ext cx="2606040" cy="320040"/>
          </a:xfrm>
          <a:prstGeom prst="roundRect">
            <a:avLst/>
          </a:prstGeom>
          <a:solidFill>
            <a:srgbClr val="FCF8EC"/>
          </a:solidFill>
          <a:ln w="8890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64408" y="4037076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E3A300"/>
                </a:solidFill>
                <a:latin typeface="Arial"/>
              </a:rPr>
              <a:t>Constraints: cost + land feasibility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852160" y="4023360"/>
            <a:ext cx="2788920" cy="320040"/>
          </a:xfrm>
          <a:prstGeom prst="roundRect">
            <a:avLst/>
          </a:prstGeom>
          <a:solidFill>
            <a:srgbClr val="F2F7F6"/>
          </a:solidFill>
          <a:ln w="8890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897880" y="4037076"/>
            <a:ext cx="26974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008F78"/>
                </a:solidFill>
                <a:latin typeface="Arial"/>
              </a:rPr>
              <a:t>Outputs: allocations + rationale + phases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 i="0">
                <a:solidFill>
                  <a:srgbClr val="536170"/>
                </a:solidFill>
                <a:latin typeface="Arial"/>
              </a:rPr>
              <a:t>Live Earth Engine / Gemini integrations are optional; resilient local data and planning paths are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Planner workspace (interface sketch)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384048" y="1344168"/>
            <a:ext cx="8366760" cy="343814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4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66928" y="147218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9D6BE"/>
                </a:solidFill>
                <a:latin typeface="Arial"/>
              </a:rPr>
              <a:t>AVANI ALBEDO  •  CITY HEAT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91072" y="146304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10" b="1" i="0">
                <a:solidFill>
                  <a:srgbClr val="8EA4B8"/>
                </a:solidFill>
                <a:latin typeface="Arial"/>
              </a:rPr>
              <a:t>LIVE MAP + ACTION PLAN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66928" y="1810512"/>
            <a:ext cx="1874519" cy="2679192"/>
          </a:xfrm>
          <a:prstGeom prst="roundRect">
            <a:avLst/>
          </a:prstGeom>
          <a:solidFill>
            <a:srgbClr val="1B2739"/>
          </a:solidFill>
          <a:ln>
            <a:solidFill>
              <a:srgbClr val="33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22376" y="192024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9CB1C8"/>
                </a:solidFill>
                <a:latin typeface="Arial"/>
              </a:rPr>
              <a:t>TARGET GEOGRAPHY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222199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Bengaluru  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2376" y="265176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9CB1C8"/>
                </a:solidFill>
                <a:latin typeface="Arial"/>
              </a:rPr>
              <a:t>BUDGET  •  ₹1.0 Cr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0664" y="2971800"/>
            <a:ext cx="1508760" cy="64008"/>
          </a:xfrm>
          <a:prstGeom prst="rect">
            <a:avLst/>
          </a:prstGeom>
          <a:solidFill>
            <a:srgbClr val="48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572768" y="2916936"/>
            <a:ext cx="164592" cy="164592"/>
          </a:xfrm>
          <a:prstGeom prst="ellipse">
            <a:avLst/>
          </a:prstGeom>
          <a:solidFill>
            <a:srgbClr val="46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22376" y="324612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9CB1C8"/>
                </a:solidFill>
                <a:latin typeface="Arial"/>
              </a:rPr>
              <a:t>OPTIMIZE FOR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376" y="3511296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Public health  ▾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2376" y="399592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4D7B6"/>
                </a:solidFill>
                <a:latin typeface="Arial"/>
              </a:rPr>
              <a:t>◉ Run climate plan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578608" y="1810512"/>
            <a:ext cx="3840480" cy="2679192"/>
          </a:xfrm>
          <a:prstGeom prst="roundRect">
            <a:avLst/>
          </a:prstGeom>
          <a:solidFill>
            <a:srgbClr val="253747"/>
          </a:solidFill>
          <a:ln>
            <a:solidFill>
              <a:srgbClr val="33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2779776" y="1984248"/>
            <a:ext cx="3447288" cy="155448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779776" y="2432304"/>
            <a:ext cx="3447288" cy="155448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779776" y="2880360"/>
            <a:ext cx="3447288" cy="155448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779776" y="3328415"/>
            <a:ext cx="3447288" cy="155448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779776" y="3776472"/>
            <a:ext cx="3447288" cy="155448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907792" y="1965960"/>
            <a:ext cx="329184" cy="2359152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21608" y="1965960"/>
            <a:ext cx="283464" cy="2359152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535424" y="1965960"/>
            <a:ext cx="237744" cy="2359152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349240" y="1965960"/>
            <a:ext cx="192024" cy="2359152"/>
          </a:xfrm>
          <a:prstGeom prst="line">
            <a:avLst/>
          </a:prstGeom>
          <a:ln w="10160">
            <a:solidFill>
              <a:srgbClr val="45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3273552" y="2505456"/>
            <a:ext cx="219456" cy="219456"/>
          </a:xfrm>
          <a:prstGeom prst="ellipse">
            <a:avLst/>
          </a:prstGeom>
          <a:solidFill>
            <a:srgbClr val="F0754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4096512" y="2862072"/>
            <a:ext cx="219456" cy="219456"/>
          </a:xfrm>
          <a:prstGeom prst="ellipse">
            <a:avLst/>
          </a:prstGeom>
          <a:solidFill>
            <a:srgbClr val="F0B04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5010912" y="2514600"/>
            <a:ext cx="219456" cy="219456"/>
          </a:xfrm>
          <a:prstGeom prst="ellipse">
            <a:avLst/>
          </a:prstGeom>
          <a:solidFill>
            <a:srgbClr val="D84F3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507992" y="3657600"/>
            <a:ext cx="219456" cy="219456"/>
          </a:xfrm>
          <a:prstGeom prst="ellipse">
            <a:avLst/>
          </a:prstGeom>
          <a:solidFill>
            <a:srgbClr val="E69C4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541264" y="3392424"/>
            <a:ext cx="219456" cy="219456"/>
          </a:xfrm>
          <a:prstGeom prst="ellipse">
            <a:avLst/>
          </a:prstGeom>
          <a:solidFill>
            <a:srgbClr val="6FC99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438144" y="3794760"/>
            <a:ext cx="219456" cy="219456"/>
          </a:xfrm>
          <a:prstGeom prst="ellipse">
            <a:avLst/>
          </a:prstGeom>
          <a:solidFill>
            <a:srgbClr val="E1B84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779776" y="4151376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30" b="0" i="0">
                <a:solidFill>
                  <a:srgbClr val="B9C9D7"/>
                </a:solidFill>
                <a:latin typeface="Arial"/>
              </a:rPr>
              <a:t>Ward heat layer  •  hotspots  •  intervention sites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565392" y="1810512"/>
            <a:ext cx="1984248" cy="2679192"/>
          </a:xfrm>
          <a:prstGeom prst="roundRect">
            <a:avLst/>
          </a:prstGeom>
          <a:solidFill>
            <a:srgbClr val="1B2739"/>
          </a:solidFill>
          <a:ln>
            <a:solidFill>
              <a:srgbClr val="33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729984" y="1920240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1" i="0">
                <a:solidFill>
                  <a:srgbClr val="9CB1C8"/>
                </a:solidFill>
                <a:latin typeface="Arial"/>
              </a:rPr>
              <a:t>PRESCRIPTIVE PLAN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29984" y="229514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1" i="0">
                <a:solidFill>
                  <a:srgbClr val="92A7BB"/>
                </a:solidFill>
                <a:latin typeface="Arial"/>
              </a:rPr>
              <a:t>COOLING ACTIONS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29984" y="249631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 i="0">
                <a:solidFill>
                  <a:srgbClr val="54D7B6"/>
                </a:solidFill>
                <a:latin typeface="Arial"/>
              </a:rPr>
              <a:t>Trees • roofs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29984" y="2926079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1" i="0">
                <a:solidFill>
                  <a:srgbClr val="92A7BB"/>
                </a:solidFill>
                <a:latin typeface="Arial"/>
              </a:rPr>
              <a:t>SCENARIO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729984" y="312724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 i="0">
                <a:solidFill>
                  <a:srgbClr val="70C6E2"/>
                </a:solidFill>
                <a:latin typeface="Arial"/>
              </a:rPr>
              <a:t>Budget-fit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29984" y="3557015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1" i="0">
                <a:solidFill>
                  <a:srgbClr val="92A7BB"/>
                </a:solidFill>
                <a:latin typeface="Arial"/>
              </a:rPr>
              <a:t>ROADMAP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9984" y="3758183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 i="0">
                <a:solidFill>
                  <a:srgbClr val="F0C15D"/>
                </a:solidFill>
                <a:latin typeface="Arial"/>
              </a:rPr>
              <a:t>3 phases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8912" y="48463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 i="1">
                <a:solidFill>
                  <a:srgbClr val="536170"/>
                </a:solidFill>
                <a:latin typeface="Arial"/>
              </a:rPr>
              <a:t>Schematic representation of the implemented dashboard; not a product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Solution architecture: modular, resilient by default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84048" y="1645920"/>
            <a:ext cx="1901952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8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93776" y="1783080"/>
            <a:ext cx="1682496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60" b="1" i="0">
                <a:solidFill>
                  <a:srgbClr val="078DA8"/>
                </a:solidFill>
                <a:latin typeface="Arial"/>
              </a:rPr>
              <a:t>Planner UI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3776" y="2176272"/>
            <a:ext cx="1682496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HTML • CSS • JS</a:t>
            </a:r>
          </a:p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Leaflet • Chart.js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304288" y="2295144"/>
            <a:ext cx="192024" cy="0"/>
          </a:xfrm>
          <a:prstGeom prst="line">
            <a:avLst/>
          </a:prstGeom>
          <a:ln w="21590">
            <a:solidFill>
              <a:srgbClr val="07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2542032" y="1645920"/>
            <a:ext cx="1901952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6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651760" y="1783080"/>
            <a:ext cx="1682496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60" b="1" i="0">
                <a:solidFill>
                  <a:srgbClr val="3867A5"/>
                </a:solidFill>
                <a:latin typeface="Arial"/>
              </a:rPr>
              <a:t>FastAPI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51760" y="2176272"/>
            <a:ext cx="1682496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REST endpoints</a:t>
            </a:r>
          </a:p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Auth • scenarios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462272" y="2295144"/>
            <a:ext cx="192024" cy="0"/>
          </a:xfrm>
          <a:prstGeom prst="line">
            <a:avLst/>
          </a:prstGeom>
          <a:ln w="21590">
            <a:solidFill>
              <a:srgbClr val="386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4700016" y="1645920"/>
            <a:ext cx="1901952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809744" y="1783080"/>
            <a:ext cx="1682496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60" b="1" i="0">
                <a:solidFill>
                  <a:srgbClr val="008F78"/>
                </a:solidFill>
                <a:latin typeface="Arial"/>
              </a:rPr>
              <a:t>Decision core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09744" y="2176272"/>
            <a:ext cx="1682496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HVI • OR-Tools</a:t>
            </a:r>
          </a:p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local rule fallback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620256" y="2295144"/>
            <a:ext cx="192024" cy="0"/>
          </a:xfrm>
          <a:prstGeom prst="line">
            <a:avLst/>
          </a:prstGeom>
          <a:ln w="21590">
            <a:solidFill>
              <a:srgbClr val="008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6858000" y="1645920"/>
            <a:ext cx="1901952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967728" y="1783080"/>
            <a:ext cx="1682496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60" b="1" i="0">
                <a:solidFill>
                  <a:srgbClr val="E3A300"/>
                </a:solidFill>
                <a:latin typeface="Arial"/>
              </a:rPr>
              <a:t>Google services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967728" y="2176272"/>
            <a:ext cx="1682496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Gemini • Earth Engine</a:t>
            </a:r>
          </a:p>
          <a:p>
            <a:pPr algn="ctr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Firestore • BigQuery-ready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02920" y="3264408"/>
            <a:ext cx="813816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40" b="1" i="0">
                <a:solidFill>
                  <a:srgbClr val="17212B"/>
                </a:solidFill>
                <a:latin typeface="Arial"/>
              </a:rPr>
              <a:t>Data in → ward cells, environmental indicators and assets     •     Plans out → allocations, impact estimates and implementation phases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02920" y="3803904"/>
            <a:ext cx="3913632" cy="868680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21208" y="3913632"/>
            <a:ext cx="50292" cy="649224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7512" y="3913632"/>
            <a:ext cx="36210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08F78"/>
                </a:solidFill>
                <a:latin typeface="Arial"/>
              </a:rPr>
              <a:t>DEFAULT / DEMO PATH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7512" y="4297680"/>
            <a:ext cx="3602736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 i="0">
                <a:solidFill>
                  <a:srgbClr val="17212B"/>
                </a:solidFill>
                <a:latin typeface="Arial"/>
              </a:rPr>
              <a:t>Calibrated local composite + deterministic planning fallback; cloud credentials not required.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45152" y="3803904"/>
            <a:ext cx="3913632" cy="868680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663440" y="3913632"/>
            <a:ext cx="50292" cy="649224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809744" y="3913632"/>
            <a:ext cx="36210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78DA8"/>
                </a:solidFill>
                <a:latin typeface="Arial"/>
              </a:rPr>
              <a:t>OPTIONAL LIVE PATH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9744" y="4297680"/>
            <a:ext cx="3602736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 i="0">
                <a:solidFill>
                  <a:srgbClr val="17212B"/>
                </a:solidFill>
                <a:latin typeface="Arial"/>
              </a:rPr>
              <a:t>Enable Earth Engine / Gemini and configure Firebase or Firestore credentials for connected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Technology stack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365760" y="1417320"/>
            <a:ext cx="2706624" cy="1444752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84048" y="1527048"/>
            <a:ext cx="50292" cy="1225296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30352" y="152704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80" b="1" i="0">
                <a:solidFill>
                  <a:srgbClr val="078DA8"/>
                </a:solidFill>
                <a:latin typeface="Arial"/>
              </a:rPr>
              <a:t>INTERACTIVE FRONTEND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30352" y="1911095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HTML5 • CSS3 • JavaScript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Leaflet mapping • Chart.js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18688" y="1417320"/>
            <a:ext cx="2706624" cy="1444752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3236976" y="1527048"/>
            <a:ext cx="50292" cy="1225296"/>
          </a:xfrm>
          <a:prstGeom prst="rect">
            <a:avLst/>
          </a:prstGeom>
          <a:solidFill>
            <a:srgbClr val="38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383280" y="152704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80" b="1" i="0">
                <a:solidFill>
                  <a:srgbClr val="3867A5"/>
                </a:solidFill>
                <a:latin typeface="Arial"/>
              </a:rPr>
              <a:t>API &amp; DATA MODELS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83280" y="1911095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Python • FastAPI • Pydantic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REST endpoints • typed schemas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71616" y="1417320"/>
            <a:ext cx="2706624" cy="1444752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089903" y="1527048"/>
            <a:ext cx="50292" cy="1225296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236207" y="152704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80" b="1" i="0">
                <a:solidFill>
                  <a:srgbClr val="008F78"/>
                </a:solidFill>
                <a:latin typeface="Arial"/>
              </a:rPr>
              <a:t>PRESCRIPTIVE ENGINE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7" y="1911095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Google OR-Tools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Budget-constrained intervention solver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65760" y="3154680"/>
            <a:ext cx="2706624" cy="1444752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84048" y="3264408"/>
            <a:ext cx="50292" cy="1225296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30352" y="326440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80" b="1" i="0">
                <a:solidFill>
                  <a:srgbClr val="E3A300"/>
                </a:solidFill>
                <a:latin typeface="Arial"/>
              </a:rPr>
              <a:t>GENERATIVE AI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0352" y="3648456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Gemini 2.5 Flash / Vertex AI path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Rule-based fallback when unavailable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18688" y="3154680"/>
            <a:ext cx="2706624" cy="1444752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236976" y="3264408"/>
            <a:ext cx="50292" cy="1225296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383280" y="326440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80" b="1" i="0">
                <a:solidFill>
                  <a:srgbClr val="078DA8"/>
                </a:solidFill>
                <a:latin typeface="Arial"/>
              </a:rPr>
              <a:t>EARTH OBSERVATION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83280" y="3648456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Landsat • Sentinel-2 • Earth Engine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Calibrated composite is default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71616" y="3154680"/>
            <a:ext cx="2706624" cy="1444752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6089903" y="3264408"/>
            <a:ext cx="50292" cy="1225296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236207" y="326440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80" b="1" i="0">
                <a:solidFill>
                  <a:srgbClr val="008F78"/>
                </a:solidFill>
                <a:latin typeface="Arial"/>
              </a:rPr>
              <a:t>CLOUD-READY SERVICES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36207" y="3648456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Firebase Auth • Firestore • BigQuery-ready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Docker / Cloud Run deployment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Implementation cost: deployment-aware, not guessed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29768" y="1316736"/>
            <a:ext cx="8275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30" b="0" i="0">
                <a:solidFill>
                  <a:srgbClr val="536170"/>
                </a:solidFill>
                <a:latin typeface="Arial"/>
              </a:rPr>
              <a:t>No production cost estimate was supplied; actual spend depends on deployment region, traffic and live-service usage.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4048" y="1938528"/>
            <a:ext cx="2688336" cy="2304288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402336" y="2048256"/>
            <a:ext cx="50292" cy="2084832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48640" y="204825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8F78"/>
                </a:solidFill>
                <a:latin typeface="Arial"/>
              </a:rPr>
              <a:t>PROTOTYPE TODAY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2432304"/>
            <a:ext cx="2377440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Runs locally with calibrated data and a deterministic fallback.</a:t>
            </a:r>
          </a:p>
          <a:p>
            <a:pPr algn="l">
              <a:spcAft>
                <a:spcPts val="300"/>
              </a:spcAft>
            </a:pPr>
            <a:endParaRPr sz="111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17212B"/>
                </a:solidFill>
                <a:latin typeface="Arial"/>
              </a:rPr>
              <a:t>Cloud services are optional for the core demo.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227832" y="1938528"/>
            <a:ext cx="2688336" cy="230428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246120" y="2048256"/>
            <a:ext cx="50292" cy="2084832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392424" y="204825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8DA8"/>
                </a:solidFill>
                <a:latin typeface="Arial"/>
              </a:rPr>
              <a:t>CLOUD COST DRIVERS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92424" y="2432304"/>
            <a:ext cx="2377440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90" b="0" i="0">
                <a:solidFill>
                  <a:srgbClr val="17212B"/>
                </a:solidFill>
                <a:latin typeface="Arial"/>
              </a:rPr>
              <a:t>Cloud Run requests and compute</a:t>
            </a:r>
          </a:p>
          <a:p>
            <a:pPr algn="l">
              <a:spcAft>
                <a:spcPts val="300"/>
              </a:spcAft>
            </a:pPr>
            <a:r>
              <a:rPr sz="1090" b="0" i="0">
                <a:solidFill>
                  <a:srgbClr val="17212B"/>
                </a:solidFill>
                <a:latin typeface="Arial"/>
              </a:rPr>
              <a:t>Gemini model calls</a:t>
            </a:r>
          </a:p>
          <a:p>
            <a:pPr algn="l">
              <a:spcAft>
                <a:spcPts val="300"/>
              </a:spcAft>
            </a:pPr>
            <a:r>
              <a:rPr sz="1090" b="0" i="0">
                <a:solidFill>
                  <a:srgbClr val="17212B"/>
                </a:solidFill>
                <a:latin typeface="Arial"/>
              </a:rPr>
              <a:t>Firestore reads / writes</a:t>
            </a:r>
          </a:p>
          <a:p>
            <a:pPr algn="l">
              <a:spcAft>
                <a:spcPts val="300"/>
              </a:spcAft>
            </a:pPr>
            <a:r>
              <a:rPr sz="1090" b="0" i="0">
                <a:solidFill>
                  <a:srgbClr val="17212B"/>
                </a:solidFill>
                <a:latin typeface="Arial"/>
              </a:rPr>
              <a:t>Earth Engine and analytics usage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071616" y="1938528"/>
            <a:ext cx="2688336" cy="2304288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089903" y="2048256"/>
            <a:ext cx="50292" cy="2084832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236207" y="204825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3A300"/>
                </a:solidFill>
                <a:latin typeface="Arial"/>
              </a:rPr>
              <a:t>BEFORE DEPLOYMENT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36207" y="2432304"/>
            <a:ext cx="2377440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90" b="0" i="0">
                <a:solidFill>
                  <a:srgbClr val="17212B"/>
                </a:solidFill>
                <a:latin typeface="Arial"/>
              </a:rPr>
              <a:t>Set quotas and budgets; secure keys; choose the region and data plan; then measure real usage.</a:t>
            </a:r>
          </a:p>
          <a:p>
            <a:pPr algn="l">
              <a:spcAft>
                <a:spcPts val="300"/>
              </a:spcAft>
            </a:pPr>
            <a:endParaRPr sz="109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90" b="0" i="0">
                <a:solidFill>
                  <a:srgbClr val="17212B"/>
                </a:solidFill>
                <a:latin typeface="Arial"/>
              </a:rPr>
              <a:t>Cloud deployment is pending.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606040" y="4517136"/>
            <a:ext cx="3931920" cy="320040"/>
          </a:xfrm>
          <a:prstGeom prst="roundRect">
            <a:avLst/>
          </a:prstGeom>
          <a:solidFill>
            <a:srgbClr val="FCF8EC"/>
          </a:solidFill>
          <a:ln w="8890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651760" y="45308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E3A300"/>
                </a:solidFill>
                <a:latin typeface="Arial"/>
              </a:rPr>
              <a:t>No fabricated pricing • production estimate TBD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Prototype snapshot: interactive heat-planning dashboard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0" name="Picture 129" descr="Avani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389888"/>
            <a:ext cx="5486400" cy="3429000"/>
          </a:xfrm>
          <a:prstGeom prst="rect">
            <a:avLst/>
          </a:prstGeom>
        </p:spPr>
      </p:pic>
      <p:sp>
        <p:nvSpPr>
          <p:cNvPr id="131" name="Rounded Rectangle 130"/>
          <p:cNvSpPr/>
          <p:nvPr/>
        </p:nvSpPr>
        <p:spPr>
          <a:xfrm>
            <a:off x="6309360" y="1444752"/>
            <a:ext cx="2468880" cy="93268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327648" y="1554480"/>
            <a:ext cx="50292" cy="713232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473952" y="1554480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078DA8"/>
                </a:solidFill>
                <a:latin typeface="Arial"/>
              </a:rPr>
              <a:t>GEOGRAPHY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73952" y="1938528"/>
            <a:ext cx="2157984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17212B"/>
                </a:solidFill>
                <a:latin typeface="Arial"/>
              </a:rPr>
              <a:t>City and ward selection with a map-first view.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309360" y="2578608"/>
            <a:ext cx="2468880" cy="932688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327648" y="2688336"/>
            <a:ext cx="50292" cy="713232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473952" y="2688336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008F78"/>
                </a:solidFill>
                <a:latin typeface="Arial"/>
              </a:rPr>
              <a:t>SCENARIOS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73952" y="3072384"/>
            <a:ext cx="2157984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17212B"/>
                </a:solidFill>
                <a:latin typeface="Arial"/>
              </a:rPr>
              <a:t>Budget and objective controls feed intervention planning.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309360" y="3712463"/>
            <a:ext cx="2468880" cy="932688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6327648" y="3822191"/>
            <a:ext cx="50292" cy="713232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473952" y="3822191"/>
            <a:ext cx="21762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E3A300"/>
                </a:solidFill>
                <a:latin typeface="Arial"/>
              </a:rPr>
              <a:t>DECISION SUPPORT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73952" y="4206240"/>
            <a:ext cx="2157984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 i="0">
                <a:solidFill>
                  <a:srgbClr val="17212B"/>
                </a:solidFill>
                <a:latin typeface="Arial"/>
              </a:rPr>
              <a:t>Heat layers, vulnerability context and plan panels in one workspace.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4048" y="4882896"/>
            <a:ext cx="56692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69" b="0" i="1">
                <a:solidFill>
                  <a:srgbClr val="536170"/>
                </a:solidFill>
                <a:latin typeface="Arial"/>
              </a:rPr>
              <a:t>Local prototype capture • simulation / fallback configuration • 15 Oct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Prototype validation &amp; performance evidence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393192" y="1481328"/>
            <a:ext cx="2651760" cy="1600200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411480" y="1591056"/>
            <a:ext cx="50292" cy="1380744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57784" y="1591056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8F78"/>
                </a:solidFill>
                <a:latin typeface="Arial"/>
              </a:rPr>
              <a:t>16 / 16 TESTS PASSING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57784" y="1975104"/>
            <a:ext cx="234086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Automated suite covers API endpoints, HVI calculations, optimization and related services.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246120" y="1481328"/>
            <a:ext cx="2651760" cy="1600200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264408" y="1591056"/>
            <a:ext cx="50292" cy="1380744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410712" y="1591056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8DA8"/>
                </a:solidFill>
                <a:latin typeface="Arial"/>
              </a:rPr>
              <a:t>12 BENGALURU WARDS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10712" y="1975104"/>
            <a:ext cx="234086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Sample dataset supports city-scale heat and intervention review in the demo.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099048" y="1481328"/>
            <a:ext cx="2651760" cy="1600200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117336" y="1591056"/>
            <a:ext cx="50292" cy="1380744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263640" y="1591056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3A300"/>
                </a:solidFill>
                <a:latin typeface="Arial"/>
              </a:rPr>
              <a:t>LOCAL FALLBACK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63640" y="1975104"/>
            <a:ext cx="234086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Dashboard, APIs and deterministic action planning run without live cloud credentials.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7212B"/>
                </a:solidFill>
                <a:latin typeface="Arial"/>
              </a:rPr>
              <a:t>Evidence supports functional readiness for a hackathon demo—not production load capacity.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143000" y="4242816"/>
            <a:ext cx="1874519" cy="320040"/>
          </a:xfrm>
          <a:prstGeom prst="roundRect">
            <a:avLst/>
          </a:prstGeom>
          <a:solidFill>
            <a:srgbClr val="F2F7F6"/>
          </a:solidFill>
          <a:ln w="8890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188720" y="4256531"/>
            <a:ext cx="1783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008F78"/>
                </a:solidFill>
                <a:latin typeface="Arial"/>
              </a:rPr>
              <a:t>Automated tests: PASS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172968" y="4242816"/>
            <a:ext cx="1874519" cy="320040"/>
          </a:xfrm>
          <a:prstGeom prst="roundRect">
            <a:avLst/>
          </a:prstGeom>
          <a:solidFill>
            <a:srgbClr val="FCF8EC"/>
          </a:solidFill>
          <a:ln w="8890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18688" y="4256531"/>
            <a:ext cx="1783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E3A300"/>
                </a:solidFill>
                <a:latin typeface="Arial"/>
              </a:rPr>
              <a:t>Load test: not reported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02936" y="4242816"/>
            <a:ext cx="2651760" cy="320040"/>
          </a:xfrm>
          <a:prstGeom prst="roundRect">
            <a:avLst/>
          </a:prstGeom>
          <a:solidFill>
            <a:srgbClr val="F1F6FA"/>
          </a:solidFill>
          <a:ln w="8890">
            <a:solidFill>
              <a:srgbClr val="078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248656" y="4256531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078DA8"/>
                </a:solidFill>
                <a:latin typeface="Arial"/>
              </a:rPr>
              <a:t>Cloud services: credentials/config dependent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Next steps to production readiness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384048" y="1481328"/>
            <a:ext cx="4023360" cy="1353312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402336" y="1591056"/>
            <a:ext cx="50292" cy="1133856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48640" y="1591056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30" b="1" i="0">
                <a:solidFill>
                  <a:srgbClr val="078DA8"/>
                </a:solidFill>
                <a:latin typeface="Arial"/>
              </a:rPr>
              <a:t>01  DEPLOY &amp; PUBLISH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48640" y="1975104"/>
            <a:ext cx="37124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Complete Cloud Run / Firebase hosting, configure a public demo URL and confirm judge access.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45152" y="1481328"/>
            <a:ext cx="4023360" cy="1353312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4663440" y="1591056"/>
            <a:ext cx="50292" cy="1133856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809744" y="1591056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30" b="1" i="0">
                <a:solidFill>
                  <a:srgbClr val="008F78"/>
                </a:solidFill>
                <a:latin typeface="Arial"/>
              </a:rPr>
              <a:t>02  CONNECT LIVE DATA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809744" y="1975104"/>
            <a:ext cx="37124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Validate Earth Engine permissions, live satellite processing and data provenance end to end.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84048" y="3127248"/>
            <a:ext cx="4023360" cy="1353312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402336" y="3236976"/>
            <a:ext cx="50292" cy="1133856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48640" y="3236976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30" b="1" i="0">
                <a:solidFill>
                  <a:srgbClr val="E3A300"/>
                </a:solidFill>
                <a:latin typeface="Arial"/>
              </a:rPr>
              <a:t>03  HARDEN OPERATIONS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40" y="3621024"/>
            <a:ext cx="37124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Finalize authentication, quotas, secret handling, monitoring and performance/load testing.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645152" y="3127248"/>
            <a:ext cx="4023360" cy="1353312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4663440" y="3236976"/>
            <a:ext cx="50292" cy="1133856"/>
          </a:xfrm>
          <a:prstGeom prst="rect">
            <a:avLst/>
          </a:prstGeom>
          <a:solidFill>
            <a:srgbClr val="38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4809744" y="3236976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30" b="1" i="0">
                <a:solidFill>
                  <a:srgbClr val="3867A5"/>
                </a:solidFill>
                <a:latin typeface="Arial"/>
              </a:rPr>
              <a:t>04  FINISH THE DEMO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809744" y="3621024"/>
            <a:ext cx="37124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7212B"/>
                </a:solidFill>
                <a:latin typeface="Arial"/>
              </a:rPr>
              <a:t>Record the 3-minute walkthrough; validate live city/ward guidance and municipal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7212B"/>
                </a:solidFill>
                <a:latin typeface="Arial"/>
              </a:rPr>
              <a:t>Project links &amp; judge access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384048" y="1444752"/>
            <a:ext cx="2706624" cy="2066543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402336" y="1554480"/>
            <a:ext cx="50292" cy="1847087"/>
          </a:xfrm>
          <a:prstGeom prst="rect">
            <a:avLst/>
          </a:prstGeom>
          <a:solidFill>
            <a:srgbClr val="07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48640" y="1554480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78DA8"/>
                </a:solidFill>
                <a:latin typeface="Arial"/>
              </a:rPr>
              <a:t>SOURCE REPOSITORY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40" y="1938528"/>
            <a:ext cx="2395728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  <a:hlinkClick r:id="rId5"/>
              </a:rPr>
              <a:t>https://github.com/shivajibodkhe/Avani_Albedo</a:t>
            </a:r>
          </a:p>
          <a:p>
            <a:pPr algn="l">
              <a:spcAft>
                <a:spcPts val="300"/>
              </a:spcAft>
            </a:pPr>
            <a:endParaRPr sz="1019" b="0" i="0">
              <a:solidFill>
                <a:srgbClr val="17212B"/>
              </a:solidFill>
              <a:latin typeface="Arial"/>
              <a:hlinkClick r:id="rId5"/>
            </a:endParaRPr>
          </a:p>
          <a:p>
            <a:pPr algn="l">
              <a:spcAft>
                <a:spcPts val="300"/>
              </a:spcAft>
            </a:pPr>
            <a:r>
              <a:rPr sz="1019" b="0" i="0">
                <a:solidFill>
                  <a:srgbClr val="17212B"/>
                </a:solidFill>
                <a:latin typeface="Arial"/>
              </a:rPr>
              <a:t>Repository visibility needs confirmation before external judging.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227832" y="1444752"/>
            <a:ext cx="2706624" cy="2066543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3246120" y="1554480"/>
            <a:ext cx="50292" cy="1847087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392424" y="1554480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8F78"/>
                </a:solidFill>
                <a:latin typeface="Arial"/>
              </a:rPr>
              <a:t>LOCAL DEMO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92424" y="1938528"/>
            <a:ext cx="2395728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Dashboard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http://localhost:8000</a:t>
            </a:r>
          </a:p>
          <a:p>
            <a:pPr algn="l">
              <a:spcAft>
                <a:spcPts val="300"/>
              </a:spcAft>
            </a:pPr>
            <a:endParaRPr sz="103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API docs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http://localhost:8000/docs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71616" y="1444752"/>
            <a:ext cx="2706624" cy="2066543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089903" y="1554480"/>
            <a:ext cx="50292" cy="1847087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236207" y="1554480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3A300"/>
                </a:solidFill>
                <a:latin typeface="Arial"/>
              </a:rPr>
              <a:t>STATUS &amp; VIDEO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236207" y="1938528"/>
            <a:ext cx="2395728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Status API</a:t>
            </a: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http://localhost:8000/api/status</a:t>
            </a:r>
          </a:p>
          <a:p>
            <a:pPr algn="l">
              <a:spcAft>
                <a:spcPts val="300"/>
              </a:spcAft>
            </a:pPr>
            <a:endParaRPr sz="1030" b="0" i="0">
              <a:solidFill>
                <a:srgbClr val="17212B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17212B"/>
                </a:solidFill>
                <a:latin typeface="Arial"/>
              </a:rPr>
              <a:t>Demo video: pending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3840480"/>
            <a:ext cx="822960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30" b="1" i="0">
                <a:solidFill>
                  <a:srgbClr val="9A5D00"/>
                </a:solidFill>
                <a:latin typeface="Arial"/>
              </a:rPr>
              <a:t>Important: localhost links work only on the machine running the app. GitHub reports this repository as private; make it public or grant reviewer access before submission.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7200" y="4617720"/>
            <a:ext cx="82296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70" b="0" i="1">
                <a:solidFill>
                  <a:srgbClr val="536170"/>
                </a:solidFill>
                <a:latin typeface="Arial"/>
              </a:rPr>
              <a:t>Final public product URL: pending cloud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17212B"/>
                </a:solidFill>
                <a:latin typeface="Arial"/>
              </a:rPr>
              <a:t>Project status snapshot  |  08 October 2026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38912" y="1353312"/>
            <a:ext cx="2057400" cy="320040"/>
          </a:xfrm>
          <a:prstGeom prst="roundRect">
            <a:avLst/>
          </a:prstGeom>
          <a:solidFill>
            <a:srgbClr val="F2F7F6"/>
          </a:solidFill>
          <a:ln w="8890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84632" y="136702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008F78"/>
                </a:solidFill>
                <a:latin typeface="Arial"/>
              </a:rPr>
              <a:t>ACTIVE DEVELOPMENT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651760" y="1353312"/>
            <a:ext cx="1874519" cy="320040"/>
          </a:xfrm>
          <a:prstGeom prst="roundRect">
            <a:avLst/>
          </a:prstGeom>
          <a:solidFill>
            <a:srgbClr val="F2F7F6"/>
          </a:solidFill>
          <a:ln w="8890">
            <a:solidFill>
              <a:srgbClr val="00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697479" y="1367028"/>
            <a:ext cx="1783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008F78"/>
                </a:solidFill>
                <a:latin typeface="Arial"/>
              </a:rPr>
              <a:t>16 / 16 TESTS PASS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81728" y="1353312"/>
            <a:ext cx="1920240" cy="320040"/>
          </a:xfrm>
          <a:prstGeom prst="roundRect">
            <a:avLst/>
          </a:prstGeom>
          <a:solidFill>
            <a:srgbClr val="FCF8EC"/>
          </a:solidFill>
          <a:ln w="8890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727448" y="13670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E3A300"/>
                </a:solidFill>
                <a:latin typeface="Arial"/>
              </a:rPr>
              <a:t>CLOUD DEPLOY: PENDING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748272" y="1353312"/>
            <a:ext cx="1920240" cy="320040"/>
          </a:xfrm>
          <a:prstGeom prst="roundRect">
            <a:avLst/>
          </a:prstGeom>
          <a:solidFill>
            <a:srgbClr val="FCF8EC"/>
          </a:solidFill>
          <a:ln w="8890">
            <a:solidFill>
              <a:srgbClr val="E3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793992" y="13670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19" b="1" i="0">
                <a:solidFill>
                  <a:srgbClr val="E3A300"/>
                </a:solidFill>
                <a:latin typeface="Arial"/>
              </a:rPr>
              <a:t>DEMO VIDEO: PENDING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38912" y="1975104"/>
            <a:ext cx="3977639" cy="2029968"/>
          </a:xfrm>
          <a:prstGeom prst="roundRect">
            <a:avLst/>
          </a:prstGeom>
          <a:solidFill>
            <a:srgbClr val="F2F7F6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57200" y="2084832"/>
            <a:ext cx="50292" cy="1810512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603503" y="2084832"/>
            <a:ext cx="3685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 i="0">
                <a:solidFill>
                  <a:srgbClr val="008F78"/>
                </a:solidFill>
                <a:latin typeface="Arial"/>
              </a:rPr>
              <a:t>IMPLEMENTED IN THE PROTOTYPE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03503" y="2468880"/>
            <a:ext cx="3666744" cy="1453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Interactive frontend • API endpoints • heat / HVI analysis</a:t>
            </a:r>
          </a:p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Historical and timeline views • optimization • admin interface</a:t>
            </a:r>
          </a:p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Local calibrated-data and deterministic fallback paths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690872" y="1975104"/>
            <a:ext cx="3977639" cy="2029968"/>
          </a:xfrm>
          <a:prstGeom prst="roundRect">
            <a:avLst/>
          </a:prstGeom>
          <a:solidFill>
            <a:srgbClr val="FCF8EC"/>
          </a:solidFill>
          <a:ln w="10160">
            <a:solidFill>
              <a:srgbClr val="D9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4709159" y="2084832"/>
            <a:ext cx="50292" cy="1810512"/>
          </a:xfrm>
          <a:prstGeom prst="rect">
            <a:avLst/>
          </a:prstGeom>
          <a:solidFill>
            <a:srgbClr val="E3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855464" y="2084832"/>
            <a:ext cx="3685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10" b="1" i="0">
                <a:solidFill>
                  <a:srgbClr val="E3A300"/>
                </a:solidFill>
                <a:latin typeface="Arial"/>
              </a:rPr>
              <a:t>REMAINING BEFORE PUBLIC DEMO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55464" y="2468880"/>
            <a:ext cx="3666744" cy="1453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Cloud deployment and public product URL</a:t>
            </a:r>
          </a:p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Live service credentials and production configuration</a:t>
            </a:r>
          </a:p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Public repository / judge-access confirmation</a:t>
            </a:r>
          </a:p>
          <a:p>
            <a:pPr algn="l">
              <a:spcAft>
                <a:spcPts val="300"/>
              </a:spcAft>
            </a:pPr>
            <a:r>
              <a:rPr sz="1070" b="0" i="0">
                <a:solidFill>
                  <a:srgbClr val="17212B"/>
                </a:solidFill>
                <a:latin typeface="Arial"/>
              </a:rPr>
              <a:t>Recorded walkthrough and final presentation sign-off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2920" y="434340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40" b="1" i="0">
                <a:solidFill>
                  <a:srgbClr val="17212B"/>
                </a:solidFill>
                <a:latin typeface="Arial"/>
              </a:rPr>
              <a:t>Stable and tested for demonstration preparation; cloud services are configuration-dependent and deployment is not yet complete.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Office PowerPoint</Application>
  <PresentationFormat>On-screen Show (16:9)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Google Sans Flex Medium</vt:lpstr>
      <vt:lpstr>Google Sans Flex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Avani Albedo | AI Builder Cup Submission</dc:title>
  <dc:subject>Urban Heat Action Agent: Prescriptive Climate Resilience Engine</dc:subject>
  <dc:creator>Avani Albedo</dc:creator>
  <cp:keywords>urban heat, climate resilience, AI Builder Cup, satellite intelligence, OR-Tools</cp:keywords>
  <cp:lastModifiedBy>Akshatha R Prabhu .</cp:lastModifiedBy>
  <cp:revision>2</cp:revision>
  <dcterms:modified xsi:type="dcterms:W3CDTF">2026-10-15T06:38:31Z</dcterms:modified>
</cp:coreProperties>
</file>